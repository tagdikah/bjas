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en-L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70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DC7FCB-8596-9D38-EC22-F21D4A0423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L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40F1C6D-FDD7-AB94-6574-C4F165230F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L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15DD5B-A09D-6447-D4B5-B5A0FE3226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98FCA-DB54-4DFD-A4D1-B1CBA2FD3E69}" type="datetimeFigureOut">
              <a:rPr lang="en-LS" smtClean="0"/>
              <a:t>23/03/2026</a:t>
            </a:fld>
            <a:endParaRPr lang="en-L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B3D142-9F54-8CB9-CFE1-EE5FCC4D1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L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932897-AA3E-0F39-5023-11EB00FC2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533A70-270E-41C3-A00B-6DD1A68FA10B}" type="slidenum">
              <a:rPr lang="en-LS" smtClean="0"/>
              <a:t>‹#›</a:t>
            </a:fld>
            <a:endParaRPr lang="en-LS"/>
          </a:p>
        </p:txBody>
      </p:sp>
    </p:spTree>
    <p:extLst>
      <p:ext uri="{BB962C8B-B14F-4D97-AF65-F5344CB8AC3E}">
        <p14:creationId xmlns:p14="http://schemas.microsoft.com/office/powerpoint/2010/main" val="22847986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4684DC-840F-D78E-E20F-704CC79A5A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L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B4B8F9-E0D6-918D-D40C-06043CAECB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L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6F3603-0247-4D7E-A37A-42FCC83C04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98FCA-DB54-4DFD-A4D1-B1CBA2FD3E69}" type="datetimeFigureOut">
              <a:rPr lang="en-LS" smtClean="0"/>
              <a:t>23/03/2026</a:t>
            </a:fld>
            <a:endParaRPr lang="en-L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E51695-3AE5-69E2-D150-AFCCAAC161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L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68BA0E-17CB-CABE-2D8E-E5C8C8ACC6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533A70-270E-41C3-A00B-6DD1A68FA10B}" type="slidenum">
              <a:rPr lang="en-LS" smtClean="0"/>
              <a:t>‹#›</a:t>
            </a:fld>
            <a:endParaRPr lang="en-LS"/>
          </a:p>
        </p:txBody>
      </p:sp>
    </p:spTree>
    <p:extLst>
      <p:ext uri="{BB962C8B-B14F-4D97-AF65-F5344CB8AC3E}">
        <p14:creationId xmlns:p14="http://schemas.microsoft.com/office/powerpoint/2010/main" val="30888810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107D51-9E7E-856D-2D0A-510F42CC2F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L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F43EAD-FBB9-37E5-3129-6C501A5FE1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0D55FE-10CF-1C96-7D2D-C49EE29BA5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98FCA-DB54-4DFD-A4D1-B1CBA2FD3E69}" type="datetimeFigureOut">
              <a:rPr lang="en-LS" smtClean="0"/>
              <a:t>23/03/2026</a:t>
            </a:fld>
            <a:endParaRPr lang="en-L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D033E4-BC43-8A88-FC3B-686B66AF3F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L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C830DA-7B13-CE64-190B-55351449D2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533A70-270E-41C3-A00B-6DD1A68FA10B}" type="slidenum">
              <a:rPr lang="en-LS" smtClean="0"/>
              <a:t>‹#›</a:t>
            </a:fld>
            <a:endParaRPr lang="en-LS"/>
          </a:p>
        </p:txBody>
      </p:sp>
    </p:spTree>
    <p:extLst>
      <p:ext uri="{BB962C8B-B14F-4D97-AF65-F5344CB8AC3E}">
        <p14:creationId xmlns:p14="http://schemas.microsoft.com/office/powerpoint/2010/main" val="7891359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3F0414-DE41-3066-5719-4641E5A005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L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4BF8BC-FACE-90EF-EB2F-4687A19D724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L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4CC99C-F299-ED7F-6DCB-7C3A8A4760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L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BBB08F-5858-EDD6-1D7F-C413A5677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98FCA-DB54-4DFD-A4D1-B1CBA2FD3E69}" type="datetimeFigureOut">
              <a:rPr lang="en-LS" smtClean="0"/>
              <a:t>23/03/2026</a:t>
            </a:fld>
            <a:endParaRPr lang="en-L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D912B6-D5AF-88B6-797B-34637EF142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L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A55BE8-A056-C51D-D93F-D131542A7B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533A70-270E-41C3-A00B-6DD1A68FA10B}" type="slidenum">
              <a:rPr lang="en-LS" smtClean="0"/>
              <a:t>‹#›</a:t>
            </a:fld>
            <a:endParaRPr lang="en-LS"/>
          </a:p>
        </p:txBody>
      </p:sp>
    </p:spTree>
    <p:extLst>
      <p:ext uri="{BB962C8B-B14F-4D97-AF65-F5344CB8AC3E}">
        <p14:creationId xmlns:p14="http://schemas.microsoft.com/office/powerpoint/2010/main" val="7029915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36C6EB-61F3-84ED-49F5-45CB469F46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L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A85FB7-91AB-8AFA-66A7-1DD173B511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74D8A6-3183-9E7F-6262-5E9712F53D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L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64EDCFE-9F78-83A7-6C04-5988DED1192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0D0B470-E707-B7A0-303D-1B34EFE5894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L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056CB5C-D427-DF3A-8AFA-AE2D823F2E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98FCA-DB54-4DFD-A4D1-B1CBA2FD3E69}" type="datetimeFigureOut">
              <a:rPr lang="en-LS" smtClean="0"/>
              <a:t>23/03/2026</a:t>
            </a:fld>
            <a:endParaRPr lang="en-L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4AFFD0D-115A-A688-3BD9-2BE7360CA2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L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B29963D-95D4-5C49-CACD-ABE1E6E1E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533A70-270E-41C3-A00B-6DD1A68FA10B}" type="slidenum">
              <a:rPr lang="en-LS" smtClean="0"/>
              <a:t>‹#›</a:t>
            </a:fld>
            <a:endParaRPr lang="en-LS"/>
          </a:p>
        </p:txBody>
      </p:sp>
    </p:spTree>
    <p:extLst>
      <p:ext uri="{BB962C8B-B14F-4D97-AF65-F5344CB8AC3E}">
        <p14:creationId xmlns:p14="http://schemas.microsoft.com/office/powerpoint/2010/main" val="29775782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47D406-DA75-35CB-D89A-97EE95D74D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L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45160C7-2E16-2392-6619-5F3FD00469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98FCA-DB54-4DFD-A4D1-B1CBA2FD3E69}" type="datetimeFigureOut">
              <a:rPr lang="en-LS" smtClean="0"/>
              <a:t>23/03/2026</a:t>
            </a:fld>
            <a:endParaRPr lang="en-L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C5458A9-C67F-B36E-084F-676D56998D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L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6F8A3A-F86A-4404-3DDF-5EE1B12EFB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533A70-270E-41C3-A00B-6DD1A68FA10B}" type="slidenum">
              <a:rPr lang="en-LS" smtClean="0"/>
              <a:t>‹#›</a:t>
            </a:fld>
            <a:endParaRPr lang="en-LS"/>
          </a:p>
        </p:txBody>
      </p:sp>
    </p:spTree>
    <p:extLst>
      <p:ext uri="{BB962C8B-B14F-4D97-AF65-F5344CB8AC3E}">
        <p14:creationId xmlns:p14="http://schemas.microsoft.com/office/powerpoint/2010/main" val="28508477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B7DDD25-C056-BBE3-46D9-E8448A6282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98FCA-DB54-4DFD-A4D1-B1CBA2FD3E69}" type="datetimeFigureOut">
              <a:rPr lang="en-LS" smtClean="0"/>
              <a:t>23/03/2026</a:t>
            </a:fld>
            <a:endParaRPr lang="en-L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5F21BDC-B5C5-A97B-745C-0208F124EB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L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A45FD5-EA6E-957B-B2EA-5C36171C6D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533A70-270E-41C3-A00B-6DD1A68FA10B}" type="slidenum">
              <a:rPr lang="en-LS" smtClean="0"/>
              <a:t>‹#›</a:t>
            </a:fld>
            <a:endParaRPr lang="en-LS"/>
          </a:p>
        </p:txBody>
      </p:sp>
    </p:spTree>
    <p:extLst>
      <p:ext uri="{BB962C8B-B14F-4D97-AF65-F5344CB8AC3E}">
        <p14:creationId xmlns:p14="http://schemas.microsoft.com/office/powerpoint/2010/main" val="17091816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C5FC79-7AD5-A0D5-DE37-00767DDB7F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L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B34BEC-7038-3461-70C3-E56807399C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L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1759DB-FAB8-F69D-063B-8F38ED5571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30C7C6-C2A0-85B2-85CB-728CA59157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98FCA-DB54-4DFD-A4D1-B1CBA2FD3E69}" type="datetimeFigureOut">
              <a:rPr lang="en-LS" smtClean="0"/>
              <a:t>23/03/2026</a:t>
            </a:fld>
            <a:endParaRPr lang="en-L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39B3C5-9B7C-12BD-CEE3-A8BE963B01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L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E6369E-E174-58FE-CB66-33D005FD78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533A70-270E-41C3-A00B-6DD1A68FA10B}" type="slidenum">
              <a:rPr lang="en-LS" smtClean="0"/>
              <a:t>‹#›</a:t>
            </a:fld>
            <a:endParaRPr lang="en-LS"/>
          </a:p>
        </p:txBody>
      </p:sp>
    </p:spTree>
    <p:extLst>
      <p:ext uri="{BB962C8B-B14F-4D97-AF65-F5344CB8AC3E}">
        <p14:creationId xmlns:p14="http://schemas.microsoft.com/office/powerpoint/2010/main" val="131794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93C2D9-CAD8-16A5-7499-43804199F6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L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B3B3D63-1830-F887-745B-5114B998976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L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A4822D7-CE7C-3D86-50AE-592242BE80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CD571C-6602-418C-2E7E-6763571A0E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98FCA-DB54-4DFD-A4D1-B1CBA2FD3E69}" type="datetimeFigureOut">
              <a:rPr lang="en-LS" smtClean="0"/>
              <a:t>23/03/2026</a:t>
            </a:fld>
            <a:endParaRPr lang="en-L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ADA29F-ACDC-8B3B-E060-FAE349B586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L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54E7CA-8021-0C0A-8E8E-FEA4A32FF3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533A70-270E-41C3-A00B-6DD1A68FA10B}" type="slidenum">
              <a:rPr lang="en-LS" smtClean="0"/>
              <a:t>‹#›</a:t>
            </a:fld>
            <a:endParaRPr lang="en-LS"/>
          </a:p>
        </p:txBody>
      </p:sp>
    </p:spTree>
    <p:extLst>
      <p:ext uri="{BB962C8B-B14F-4D97-AF65-F5344CB8AC3E}">
        <p14:creationId xmlns:p14="http://schemas.microsoft.com/office/powerpoint/2010/main" val="31373402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915787-F0F9-1974-6084-09DFDF80A3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L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D01DA43-5DD2-88F6-3E43-4B4D9F40FF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L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A7BA93-C4EF-19F1-E89B-538DEB6CF6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98FCA-DB54-4DFD-A4D1-B1CBA2FD3E69}" type="datetimeFigureOut">
              <a:rPr lang="en-LS" smtClean="0"/>
              <a:t>23/03/2026</a:t>
            </a:fld>
            <a:endParaRPr lang="en-L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DE468F-F3E3-3256-1FE7-B548A6193A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L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C47917-F9E8-1F85-78D4-049F5C89A7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533A70-270E-41C3-A00B-6DD1A68FA10B}" type="slidenum">
              <a:rPr lang="en-LS" smtClean="0"/>
              <a:t>‹#›</a:t>
            </a:fld>
            <a:endParaRPr lang="en-LS"/>
          </a:p>
        </p:txBody>
      </p:sp>
    </p:spTree>
    <p:extLst>
      <p:ext uri="{BB962C8B-B14F-4D97-AF65-F5344CB8AC3E}">
        <p14:creationId xmlns:p14="http://schemas.microsoft.com/office/powerpoint/2010/main" val="1610663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C1AFCE2-2E17-08F8-6801-121D1ED97C7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L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BBDF30A-4DF2-D561-F6A4-463CA296FE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L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01C909-47CB-0F1D-E386-D0EF2ABE16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98FCA-DB54-4DFD-A4D1-B1CBA2FD3E69}" type="datetimeFigureOut">
              <a:rPr lang="en-LS" smtClean="0"/>
              <a:t>23/03/2026</a:t>
            </a:fld>
            <a:endParaRPr lang="en-L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0174FE-A8EE-CEA0-FDB5-B52C9CEC0A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L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8BE669-BBED-51D3-0480-CCB93ABDE1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533A70-270E-41C3-A00B-6DD1A68FA10B}" type="slidenum">
              <a:rPr lang="en-LS" smtClean="0"/>
              <a:t>‹#›</a:t>
            </a:fld>
            <a:endParaRPr lang="en-LS"/>
          </a:p>
        </p:txBody>
      </p:sp>
    </p:spTree>
    <p:extLst>
      <p:ext uri="{BB962C8B-B14F-4D97-AF65-F5344CB8AC3E}">
        <p14:creationId xmlns:p14="http://schemas.microsoft.com/office/powerpoint/2010/main" val="26936790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8D2B88-F21C-4628-1C94-987EBF1071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L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770ED4-E7B2-1258-5A3D-71E73FD5D1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L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FFF812-738A-EF0D-79F5-3B18E11EAF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98FCA-DB54-4DFD-A4D1-B1CBA2FD3E69}" type="datetimeFigureOut">
              <a:rPr lang="en-LS" smtClean="0"/>
              <a:t>23/03/2026</a:t>
            </a:fld>
            <a:endParaRPr lang="en-L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7333B9-76E8-89C2-C829-0342C5D08D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L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FD70D7-980C-ED98-85B1-742CB05DD2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533A70-270E-41C3-A00B-6DD1A68FA10B}" type="slidenum">
              <a:rPr lang="en-LS" smtClean="0"/>
              <a:t>‹#›</a:t>
            </a:fld>
            <a:endParaRPr lang="en-LS"/>
          </a:p>
        </p:txBody>
      </p:sp>
    </p:spTree>
    <p:extLst>
      <p:ext uri="{BB962C8B-B14F-4D97-AF65-F5344CB8AC3E}">
        <p14:creationId xmlns:p14="http://schemas.microsoft.com/office/powerpoint/2010/main" val="38042692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4916870-F036-0DE7-B872-108D27D743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L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3A4D44-EFDA-2AE0-81BB-14726A3F14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L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29A648-E1CA-E505-2C73-C75D611579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BE98FCA-DB54-4DFD-A4D1-B1CBA2FD3E69}" type="datetimeFigureOut">
              <a:rPr lang="en-LS" smtClean="0"/>
              <a:t>23/03/2026</a:t>
            </a:fld>
            <a:endParaRPr lang="en-L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4C6CCA-A822-724F-5050-C27E19A9414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L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A45B4A-DE20-3C15-C4CF-681D5A7013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E533A70-270E-41C3-A00B-6DD1A68FA10B}" type="slidenum">
              <a:rPr lang="en-LS" smtClean="0"/>
              <a:t>‹#›</a:t>
            </a:fld>
            <a:endParaRPr lang="en-LS"/>
          </a:p>
        </p:txBody>
      </p:sp>
    </p:spTree>
    <p:extLst>
      <p:ext uri="{BB962C8B-B14F-4D97-AF65-F5344CB8AC3E}">
        <p14:creationId xmlns:p14="http://schemas.microsoft.com/office/powerpoint/2010/main" val="18156504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L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58ED72-5A61-B091-B61F-3EEA8EC9D9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Justice Case Management System</a:t>
            </a:r>
            <a:endParaRPr lang="en-L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A0BB27-1BDB-5F4F-409C-91F7EA3464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Technologies: Next.js, Node.js, TiDB, Blockchain, Fabric, Hardhat</a:t>
            </a:r>
          </a:p>
          <a:p>
            <a:endParaRPr lang="en-US"/>
          </a:p>
          <a:p>
            <a:r>
              <a:rPr lang="en-US"/>
              <a:t>Team presentation structure:</a:t>
            </a:r>
          </a:p>
          <a:p>
            <a:r>
              <a:rPr lang="en-US"/>
              <a:t>1. Problem Statement and SMART Objectives</a:t>
            </a:r>
          </a:p>
          <a:p>
            <a:r>
              <a:rPr lang="en-US"/>
              <a:t>2. Next.js interface and API routes</a:t>
            </a:r>
          </a:p>
          <a:p>
            <a:r>
              <a:rPr lang="en-US"/>
              <a:t>3. Node.js logic and TiDB storage</a:t>
            </a:r>
          </a:p>
          <a:p>
            <a:r>
              <a:rPr lang="en-US"/>
              <a:t>4. Blockchain, Hardhat, Fabric, workflow, functions, and demo</a:t>
            </a:r>
            <a:endParaRPr lang="en-LS"/>
          </a:p>
        </p:txBody>
      </p:sp>
    </p:spTree>
    <p:extLst>
      <p:ext uri="{BB962C8B-B14F-4D97-AF65-F5344CB8AC3E}">
        <p14:creationId xmlns:p14="http://schemas.microsoft.com/office/powerpoint/2010/main" val="33129308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A8D567-AA66-7ACA-663C-E9AF818E2F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Problem Statement</a:t>
            </a:r>
            <a:endParaRPr lang="en-L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3F7EC9-F1E3-86BF-F918-658131EEC5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en-US"/>
              <a:t>Justice systems face challenges in:</a:t>
            </a:r>
          </a:p>
          <a:p>
            <a:r>
              <a:rPr lang="en-US"/>
              <a:t>- Managing case workflows efficiently</a:t>
            </a:r>
          </a:p>
          <a:p>
            <a:r>
              <a:rPr lang="en-US"/>
              <a:t>- Preventing unauthorized data changes</a:t>
            </a:r>
          </a:p>
          <a:p>
            <a:r>
              <a:rPr lang="en-US"/>
              <a:t>- Tracking case history across multiple stages</a:t>
            </a:r>
          </a:p>
          <a:p>
            <a:endParaRPr lang="en-US"/>
          </a:p>
          <a:p>
            <a:r>
              <a:rPr lang="en-US"/>
              <a:t>Traditional systems lack:</a:t>
            </a:r>
          </a:p>
          <a:p>
            <a:r>
              <a:rPr lang="en-US"/>
              <a:t>- Transparency</a:t>
            </a:r>
          </a:p>
          <a:p>
            <a:r>
              <a:rPr lang="en-US"/>
              <a:t>- Traceability</a:t>
            </a:r>
          </a:p>
          <a:p>
            <a:r>
              <a:rPr lang="en-US"/>
              <a:t>- Tamper detection</a:t>
            </a:r>
            <a:endParaRPr lang="en-LS"/>
          </a:p>
        </p:txBody>
      </p:sp>
    </p:spTree>
    <p:extLst>
      <p:ext uri="{BB962C8B-B14F-4D97-AF65-F5344CB8AC3E}">
        <p14:creationId xmlns:p14="http://schemas.microsoft.com/office/powerpoint/2010/main" val="4089388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6F5296-5C6A-4F21-48AE-140EB20FF7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System Objectives (SMART)</a:t>
            </a:r>
            <a:endParaRPr lang="en-L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1ACAD7-5B57-A8F4-15C2-01A45EF273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 - Specific: Build a digital case management system</a:t>
            </a:r>
          </a:p>
          <a:p>
            <a:r>
              <a:rPr lang="en-US"/>
              <a:t>M - Measurable: Track case actions and history clearly</a:t>
            </a:r>
          </a:p>
          <a:p>
            <a:r>
              <a:rPr lang="en-US"/>
              <a:t>A - Achievable: Use Next.js, Node.js, TiDB, and blockchain</a:t>
            </a:r>
          </a:p>
          <a:p>
            <a:r>
              <a:rPr lang="en-US"/>
              <a:t>R - Relevant: Improve trust and accountability in justice systems</a:t>
            </a:r>
          </a:p>
          <a:p>
            <a:r>
              <a:rPr lang="en-US"/>
              <a:t>T - Time-bound: Enable real-time case tracking and updates</a:t>
            </a:r>
            <a:endParaRPr lang="en-LS"/>
          </a:p>
        </p:txBody>
      </p:sp>
    </p:spTree>
    <p:extLst>
      <p:ext uri="{BB962C8B-B14F-4D97-AF65-F5344CB8AC3E}">
        <p14:creationId xmlns:p14="http://schemas.microsoft.com/office/powerpoint/2010/main" val="38166422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37907C-B960-6F0F-01A1-EC5979880A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Architecture Overview</a:t>
            </a:r>
            <a:endParaRPr lang="en-L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449063-380A-86EA-1613-4486D4DE45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System flow:</a:t>
            </a:r>
          </a:p>
          <a:p>
            <a:r>
              <a:rPr lang="en-US"/>
              <a:t>User Interface -&gt; API Routes -&gt; Server Logic -&gt; TiDB Storage -&gt; Blockchain Proof</a:t>
            </a:r>
          </a:p>
          <a:p>
            <a:endParaRPr lang="en-US"/>
          </a:p>
          <a:p>
            <a:r>
              <a:rPr lang="en-US"/>
              <a:t>Important team line:</a:t>
            </a:r>
          </a:p>
          <a:p>
            <a:r>
              <a:rPr lang="en-US"/>
              <a:t>Next.js handles the interface, Node.js handles the logic, TiDB stores the full data, and blockchain provides proof of integrity.</a:t>
            </a:r>
            <a:endParaRPr lang="en-LS"/>
          </a:p>
        </p:txBody>
      </p:sp>
    </p:spTree>
    <p:extLst>
      <p:ext uri="{BB962C8B-B14F-4D97-AF65-F5344CB8AC3E}">
        <p14:creationId xmlns:p14="http://schemas.microsoft.com/office/powerpoint/2010/main" val="31034259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15C9C4-B1F7-9B32-A1B5-8D62882885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Presenter 1 - Next.js</a:t>
            </a:r>
            <a:endParaRPr lang="en-L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0132DB-ECB1-0D05-17D0-08E0A10B84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/>
              <a:t>Role: User Interface and API Layer</a:t>
            </a:r>
          </a:p>
          <a:p>
            <a:endParaRPr lang="en-US"/>
          </a:p>
          <a:p>
            <a:r>
              <a:rPr lang="en-US"/>
              <a:t>Handles:</a:t>
            </a:r>
          </a:p>
          <a:p>
            <a:r>
              <a:rPr lang="en-US"/>
              <a:t>- User interface forms and dashboards</a:t>
            </a:r>
          </a:p>
          <a:p>
            <a:r>
              <a:rPr lang="en-US"/>
              <a:t>- Login and case submission API routes</a:t>
            </a:r>
          </a:p>
          <a:p>
            <a:r>
              <a:rPr lang="en-US"/>
              <a:t>- Blockchain request routing</a:t>
            </a:r>
          </a:p>
          <a:p>
            <a:endParaRPr lang="en-US"/>
          </a:p>
          <a:p>
            <a:r>
              <a:rPr lang="en-US"/>
              <a:t>Files:</a:t>
            </a:r>
          </a:p>
          <a:p>
            <a:r>
              <a:rPr lang="en-US"/>
              <a:t>- app/police/new-case/page.tsx</a:t>
            </a:r>
          </a:p>
          <a:p>
            <a:r>
              <a:rPr lang="en-US"/>
              <a:t>- app/api/auth/login/route.ts</a:t>
            </a:r>
          </a:p>
          <a:p>
            <a:r>
              <a:rPr lang="en-US"/>
              <a:t>- app/api/cases/route.ts</a:t>
            </a:r>
          </a:p>
          <a:p>
            <a:r>
              <a:rPr lang="en-US"/>
              <a:t>- app/api/blockchain/anchor/route.ts</a:t>
            </a:r>
            <a:endParaRPr lang="en-LS"/>
          </a:p>
        </p:txBody>
      </p:sp>
    </p:spTree>
    <p:extLst>
      <p:ext uri="{BB962C8B-B14F-4D97-AF65-F5344CB8AC3E}">
        <p14:creationId xmlns:p14="http://schemas.microsoft.com/office/powerpoint/2010/main" val="27448811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D92394-27B1-4EB8-980C-DA6AA1E252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Presenter 1 Code - buildCasePayload()</a:t>
            </a:r>
            <a:endParaRPr lang="en-L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4FD521-4AFC-6CD0-0442-9F05A0EF3A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lstStyle/>
          <a:p>
            <a:r>
              <a:rPr lang="en-US" sz="1500">
                <a:latin typeface="Consolas" panose="020B0609020204030204" pitchFamily="49" charset="0"/>
              </a:rPr>
              <a:t>Code:</a:t>
            </a:r>
          </a:p>
          <a:p>
            <a:r>
              <a:rPr lang="en-US" sz="1500">
                <a:latin typeface="Consolas" panose="020B0609020204030204" pitchFamily="49" charset="0"/>
              </a:rPr>
              <a:t>const buildCasePayload = () =&gt; ({
  caseNumber: makeCaseNumber(),
  district: currentUser.station || "UNKNOWN",
  parties: aggrievedFullName || reportingPersonFullName || "UNKNOWN",
  charge: allegedCrime || "UNKNOWN",
  description: modusOperandi || "N/A",
  policeOfficerId: currentUser.id,
  policeSections: { sectionA: { openedAt: new Date().toISOString() } },
})</a:t>
            </a:r>
          </a:p>
          <a:p>
            <a:endParaRPr lang="en-US" sz="1500">
              <a:latin typeface="Consolas" panose="020B0609020204030204" pitchFamily="49" charset="0"/>
            </a:endParaRPr>
          </a:p>
          <a:p>
            <a:r>
              <a:rPr lang="en-US" sz="1500">
                <a:latin typeface="Consolas" panose="020B0609020204030204" pitchFamily="49" charset="0"/>
              </a:rPr>
              <a:t>What to say:</a:t>
            </a:r>
          </a:p>
          <a:p>
            <a:r>
              <a:rPr lang="en-US" sz="1500">
                <a:latin typeface="Consolas" panose="020B0609020204030204" pitchFamily="49" charset="0"/>
              </a:rPr>
              <a:t>This function collects all form values and prepares one case object before it is sent to the backend.</a:t>
            </a:r>
            <a:endParaRPr lang="en-LS" sz="150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69855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DF985A-F093-4318-96B1-9807053E8E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Presenter 1 Code - Login POST()</a:t>
            </a:r>
            <a:endParaRPr lang="en-L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167FFD-2DB1-6695-1109-DE68C50406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500">
                <a:latin typeface="Consolas" panose="020B0609020204030204" pitchFamily="49" charset="0"/>
              </a:rPr>
              <a:t>Code:</a:t>
            </a:r>
          </a:p>
          <a:p>
            <a:r>
              <a:rPr lang="en-US" sz="1500">
                <a:latin typeface="Consolas" panose="020B0609020204030204" pitchFamily="49" charset="0"/>
              </a:rPr>
              <a:t>export async function POST(req: NextRequest) {
  const parsed = await readJsonBody(req)
  const email = String(parsed.data.email ?? "").trim().toLowerCase()
  const passwordOk = await bcrypt.compare(password, user.passwordHash || "")
  res.cookies.set({ name: "auth-token", value: token, httpOnly: true })
}</a:t>
            </a:r>
          </a:p>
          <a:p>
            <a:endParaRPr lang="en-US" sz="1500">
              <a:latin typeface="Consolas" panose="020B0609020204030204" pitchFamily="49" charset="0"/>
            </a:endParaRPr>
          </a:p>
          <a:p>
            <a:r>
              <a:rPr lang="en-US" sz="1500">
                <a:latin typeface="Consolas" panose="020B0609020204030204" pitchFamily="49" charset="0"/>
              </a:rPr>
              <a:t>What to say:</a:t>
            </a:r>
          </a:p>
          <a:p>
            <a:r>
              <a:rPr lang="en-US" sz="1500">
                <a:latin typeface="Consolas" panose="020B0609020204030204" pitchFamily="49" charset="0"/>
              </a:rPr>
              <a:t>This route checks user credentials and creates the login session cookie.</a:t>
            </a:r>
            <a:endParaRPr lang="en-LS" sz="150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83306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8B96C0-0541-68E2-6BFB-35903C6C54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Presenter 1 Code - Cases Route POST()</a:t>
            </a:r>
            <a:endParaRPr lang="en-L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4B4177-B4DE-A1D9-0E53-286E2DAB27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500">
                <a:latin typeface="Consolas" panose="020B0609020204030204" pitchFamily="49" charset="0"/>
              </a:rPr>
              <a:t>Code:</a:t>
            </a:r>
          </a:p>
          <a:p>
            <a:r>
              <a:rPr lang="en-US" sz="1500">
                <a:latin typeface="Consolas" panose="020B0609020204030204" pitchFamily="49" charset="0"/>
              </a:rPr>
              <a:t>export async function POST(request: NextRequest) {
  const sessionUser = getSessionUserFromRequest(request)
  const body = await request.json()
  const result = await createAndSubmitCase({
    caseData: body?.caseData ?? {},
    user: sessionUser,
  })
  return NextResponse.json({ ok: true, case: result.caseData, anchor: result.anchor })
}</a:t>
            </a:r>
          </a:p>
          <a:p>
            <a:endParaRPr lang="en-US" sz="1500">
              <a:latin typeface="Consolas" panose="020B0609020204030204" pitchFamily="49" charset="0"/>
            </a:endParaRPr>
          </a:p>
          <a:p>
            <a:r>
              <a:rPr lang="en-US" sz="1500">
                <a:latin typeface="Consolas" panose="020B0609020204030204" pitchFamily="49" charset="0"/>
              </a:rPr>
              <a:t>What to say:</a:t>
            </a:r>
          </a:p>
          <a:p>
            <a:r>
              <a:rPr lang="en-US" sz="1500">
                <a:latin typeface="Consolas" panose="020B0609020204030204" pitchFamily="49" charset="0"/>
              </a:rPr>
              <a:t>This route receives the case data from the frontend and sends it to the server logic.</a:t>
            </a:r>
            <a:endParaRPr lang="en-LS" sz="150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89246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97EC48-AE0D-DB9B-FBCC-6B5BB82013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Presenter 2 - Node.js and TiDB</a:t>
            </a:r>
            <a:endParaRPr lang="en-L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C6205D-E724-5D03-9349-1C1BCF250D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/>
              <a:t>Node.js role:</a:t>
            </a:r>
          </a:p>
          <a:p>
            <a:r>
              <a:rPr lang="en-US"/>
              <a:t>- Backend logic</a:t>
            </a:r>
          </a:p>
          <a:p>
            <a:r>
              <a:rPr lang="en-US"/>
              <a:t>- Authentication handling</a:t>
            </a:r>
          </a:p>
          <a:p>
            <a:r>
              <a:rPr lang="en-US"/>
              <a:t>- Workflow processing</a:t>
            </a:r>
          </a:p>
          <a:p>
            <a:r>
              <a:rPr lang="en-US"/>
              <a:t>- Server-side case management</a:t>
            </a:r>
          </a:p>
          <a:p>
            <a:endParaRPr lang="en-US"/>
          </a:p>
          <a:p>
            <a:r>
              <a:rPr lang="en-US"/>
              <a:t>TiDB role:</a:t>
            </a:r>
          </a:p>
          <a:p>
            <a:r>
              <a:rPr lang="en-US"/>
              <a:t>- Database storage</a:t>
            </a:r>
          </a:p>
          <a:p>
            <a:r>
              <a:rPr lang="en-US"/>
              <a:t>- Secure connection</a:t>
            </a:r>
          </a:p>
          <a:p>
            <a:r>
              <a:rPr lang="en-US"/>
              <a:t>- Structured SQL records</a:t>
            </a:r>
            <a:endParaRPr lang="en-LS"/>
          </a:p>
        </p:txBody>
      </p:sp>
    </p:spTree>
    <p:extLst>
      <p:ext uri="{BB962C8B-B14F-4D97-AF65-F5344CB8AC3E}">
        <p14:creationId xmlns:p14="http://schemas.microsoft.com/office/powerpoint/2010/main" val="2665491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AFDAFF-882B-891B-62AB-5680E4EC6F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Presenter 2 Code - parseSessionValue()</a:t>
            </a:r>
            <a:endParaRPr lang="en-L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00B7A9-93EB-EC63-CB2D-D40DFDE9B9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500">
                <a:latin typeface="Consolas" panose="020B0609020204030204" pitchFamily="49" charset="0"/>
              </a:rPr>
              <a:t>Code:</a:t>
            </a:r>
          </a:p>
          <a:p>
            <a:r>
              <a:rPr lang="en-US" sz="1500">
                <a:latin typeface="Consolas" panose="020B0609020204030204" pitchFamily="49" charset="0"/>
              </a:rPr>
              <a:t>function parseSessionValue(value?: string | null): SessionUser | null {
  if (!value) return null
  const json = Buffer.from(value, "base64url").toString("utf8")
  const parsed = JSON.parse(json)
  return { ...parsed, role: toCanonicalRole(parsed.role) }
}</a:t>
            </a:r>
          </a:p>
          <a:p>
            <a:endParaRPr lang="en-US" sz="1500">
              <a:latin typeface="Consolas" panose="020B0609020204030204" pitchFamily="49" charset="0"/>
            </a:endParaRPr>
          </a:p>
          <a:p>
            <a:r>
              <a:rPr lang="en-US" sz="1500">
                <a:latin typeface="Consolas" panose="020B0609020204030204" pitchFamily="49" charset="0"/>
              </a:rPr>
              <a:t>What to say:</a:t>
            </a:r>
          </a:p>
          <a:p>
            <a:r>
              <a:rPr lang="en-US" sz="1500">
                <a:latin typeface="Consolas" panose="020B0609020204030204" pitchFamily="49" charset="0"/>
              </a:rPr>
              <a:t>This function decodes the session cookie and identifies the logged-in user.</a:t>
            </a:r>
            <a:endParaRPr lang="en-LS" sz="150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242466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81730A-A6FE-0BEB-9657-CCE6754809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Presenter 2 Code - createAndSubmitCase()</a:t>
            </a:r>
            <a:endParaRPr lang="en-L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A2EB49-7023-9AE5-8DB1-1818D12957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lstStyle/>
          <a:p>
            <a:r>
              <a:rPr lang="en-US" sz="1500">
                <a:latin typeface="Consolas" panose="020B0609020204030204" pitchFamily="49" charset="0"/>
              </a:rPr>
              <a:t>Code:</a:t>
            </a:r>
          </a:p>
          <a:p>
            <a:r>
              <a:rPr lang="en-US" sz="1500">
                <a:latin typeface="Consolas" panose="020B0609020204030204" pitchFamily="49" charset="0"/>
              </a:rPr>
              <a:t>export async function createAndSubmitCase(input) {
  const caseId = makeCaseId()
  const normalized = { ...(input.caseData), caseId, status: "pending_investigation" }
  const anchor = await anchorCaseOnChain({
    recordId: caseId,
    caseData: normalized,
    action: "CASE_CREATED_SUBMITTED",
  })
  await conn.query(`INSERT INTO cases (...) VALUES (...)`)
  await conn.query(`INSERT INTO audit_entries (...) VALUES (...)`)
}</a:t>
            </a:r>
          </a:p>
          <a:p>
            <a:endParaRPr lang="en-US" sz="1500">
              <a:latin typeface="Consolas" panose="020B0609020204030204" pitchFamily="49" charset="0"/>
            </a:endParaRPr>
          </a:p>
          <a:p>
            <a:r>
              <a:rPr lang="en-US" sz="1500">
                <a:latin typeface="Consolas" panose="020B0609020204030204" pitchFamily="49" charset="0"/>
              </a:rPr>
              <a:t>What to say:</a:t>
            </a:r>
          </a:p>
          <a:p>
            <a:r>
              <a:rPr lang="en-US" sz="1500">
                <a:latin typeface="Consolas" panose="020B0609020204030204" pitchFamily="49" charset="0"/>
              </a:rPr>
              <a:t>This is the main backend workflow that creates the case, stores it, and records blockchain proof.</a:t>
            </a:r>
            <a:endParaRPr lang="en-LS" sz="150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676816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AFB1AF-92A6-4AF4-C076-518881BC1D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Presenter 2 Code - getDbPool()</a:t>
            </a:r>
            <a:endParaRPr lang="en-L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4D46B8-6E23-719A-1497-4C04D9F7C3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lstStyle/>
          <a:p>
            <a:r>
              <a:rPr lang="en-US" sz="1500">
                <a:latin typeface="Consolas" panose="020B0609020204030204" pitchFamily="49" charset="0"/>
              </a:rPr>
              <a:t>Code:</a:t>
            </a:r>
          </a:p>
          <a:p>
            <a:r>
              <a:rPr lang="en-US" sz="1500">
                <a:latin typeface="Consolas" panose="020B0609020204030204" pitchFamily="49" charset="0"/>
              </a:rPr>
              <a:t>export function getDbPool() {
  if (!global.__mysqlPool) {
    global.__mysqlPool = mysql.createPool({
      host: DB_HOST,
      port: Number(DB_PORT),
      user: DB_USER,
      password: DB_PASSWORD,
      database: DB_NAME,
      ssl,
    })
  }
  return global.__mysqlPool
}</a:t>
            </a:r>
          </a:p>
          <a:p>
            <a:endParaRPr lang="en-US" sz="1500">
              <a:latin typeface="Consolas" panose="020B0609020204030204" pitchFamily="49" charset="0"/>
            </a:endParaRPr>
          </a:p>
          <a:p>
            <a:r>
              <a:rPr lang="en-US" sz="1500">
                <a:latin typeface="Consolas" panose="020B0609020204030204" pitchFamily="49" charset="0"/>
              </a:rPr>
              <a:t>What to say:</a:t>
            </a:r>
          </a:p>
          <a:p>
            <a:r>
              <a:rPr lang="en-US" sz="1500">
                <a:latin typeface="Consolas" panose="020B0609020204030204" pitchFamily="49" charset="0"/>
              </a:rPr>
              <a:t>This function creates the shared secure TiDB connection pool for the application.</a:t>
            </a:r>
            <a:endParaRPr lang="en-LS" sz="150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71790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F20D79-3646-DB46-AD17-87951564B5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Presenter 3 - Blockchain, Hardhat, and Fabric</a:t>
            </a:r>
            <a:endParaRPr lang="en-L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DDAACF-4E1D-5181-ABDB-498789167B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/>
              <a:t>Blockchain role:</a:t>
            </a:r>
          </a:p>
          <a:p>
            <a:r>
              <a:rPr lang="en-US"/>
              <a:t>- Integrity verification</a:t>
            </a:r>
          </a:p>
          <a:p>
            <a:r>
              <a:rPr lang="en-US"/>
              <a:t>- Hash generation</a:t>
            </a:r>
          </a:p>
          <a:p>
            <a:r>
              <a:rPr lang="en-US"/>
              <a:t>- Smart contract interaction</a:t>
            </a:r>
          </a:p>
          <a:p>
            <a:r>
              <a:rPr lang="en-US"/>
              <a:t>- Tamper evidence</a:t>
            </a:r>
          </a:p>
          <a:p>
            <a:endParaRPr lang="en-US"/>
          </a:p>
          <a:p>
            <a:r>
              <a:rPr lang="en-US"/>
              <a:t>Tools used:</a:t>
            </a:r>
          </a:p>
          <a:p>
            <a:r>
              <a:rPr lang="en-US"/>
              <a:t>- Hardhat for local Ethereum development and testing</a:t>
            </a:r>
          </a:p>
          <a:p>
            <a:r>
              <a:rPr lang="en-US"/>
              <a:t>- Fabric folder prepared for enterprise blockchain structure</a:t>
            </a:r>
          </a:p>
          <a:p>
            <a:endParaRPr lang="en-US"/>
          </a:p>
          <a:p>
            <a:r>
              <a:rPr lang="en-US"/>
              <a:t>Strong line: Blockchain stores proof of integrity and critical action history.</a:t>
            </a:r>
            <a:endParaRPr lang="en-LS"/>
          </a:p>
        </p:txBody>
      </p:sp>
    </p:spTree>
    <p:extLst>
      <p:ext uri="{BB962C8B-B14F-4D97-AF65-F5344CB8AC3E}">
        <p14:creationId xmlns:p14="http://schemas.microsoft.com/office/powerpoint/2010/main" val="41826552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7EF225-942A-EAF9-98B9-6DE9535D60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Presenter 3 Code - makeCaseHash()</a:t>
            </a:r>
            <a:endParaRPr lang="en-L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B64CDF-A1F5-29D6-40D7-489F00FB50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500">
                <a:latin typeface="Consolas" panose="020B0609020204030204" pitchFamily="49" charset="0"/>
              </a:rPr>
              <a:t>Code:</a:t>
            </a:r>
          </a:p>
          <a:p>
            <a:r>
              <a:rPr lang="en-US" sz="1500">
                <a:latin typeface="Consolas" panose="020B0609020204030204" pitchFamily="49" charset="0"/>
              </a:rPr>
              <a:t>export function makeCaseHash(data: unknown) {
  const json = JSON.stringify(data)
  return ethers.keccak256(ethers.toUtf8Bytes(json))
}</a:t>
            </a:r>
          </a:p>
          <a:p>
            <a:endParaRPr lang="en-US" sz="1500">
              <a:latin typeface="Consolas" panose="020B0609020204030204" pitchFamily="49" charset="0"/>
            </a:endParaRPr>
          </a:p>
          <a:p>
            <a:r>
              <a:rPr lang="en-US" sz="1500">
                <a:latin typeface="Consolas" panose="020B0609020204030204" pitchFamily="49" charset="0"/>
              </a:rPr>
              <a:t>What to say:</a:t>
            </a:r>
          </a:p>
          <a:p>
            <a:r>
              <a:rPr lang="en-US" sz="1500">
                <a:latin typeface="Consolas" panose="020B0609020204030204" pitchFamily="49" charset="0"/>
              </a:rPr>
              <a:t>This function creates the cryptographic fingerprint of the case data. If the data changes, the hash changes too.</a:t>
            </a:r>
            <a:endParaRPr lang="en-LS" sz="150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81521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8ED78B-CAA5-25D4-273C-7403596E8F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Presenter 3 Code - anchorCaseOnChain()</a:t>
            </a:r>
            <a:endParaRPr lang="en-L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FD8F0A-1F1E-8C2E-C169-66ECE70DAA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500">
                <a:latin typeface="Consolas" panose="020B0609020204030204" pitchFamily="49" charset="0"/>
              </a:rPr>
              <a:t>Code:</a:t>
            </a:r>
          </a:p>
          <a:p>
            <a:r>
              <a:rPr lang="en-US" sz="1500">
                <a:latin typeface="Consolas" panose="020B0609020204030204" pitchFamily="49" charset="0"/>
              </a:rPr>
              <a:t>export async function anchorCaseOnChain(params) {
  const contentHash = makeCaseHash(params.caseData)
  const contract = getCaseAnchorContract()
  const tx = await contract.anchor(params.recordId, contentHash, params.action)
  const receipt = await tx.wait()
  return { txHash: tx.hash, blockNumber: receipt.blockNumber, contentHash }
}</a:t>
            </a:r>
          </a:p>
          <a:p>
            <a:endParaRPr lang="en-US" sz="1500">
              <a:latin typeface="Consolas" panose="020B0609020204030204" pitchFamily="49" charset="0"/>
            </a:endParaRPr>
          </a:p>
          <a:p>
            <a:r>
              <a:rPr lang="en-US" sz="1500">
                <a:latin typeface="Consolas" panose="020B0609020204030204" pitchFamily="49" charset="0"/>
              </a:rPr>
              <a:t>What to say:</a:t>
            </a:r>
          </a:p>
          <a:p>
            <a:r>
              <a:rPr lang="en-US" sz="1500">
                <a:latin typeface="Consolas" panose="020B0609020204030204" pitchFamily="49" charset="0"/>
              </a:rPr>
              <a:t>This function sends the case fingerprint and action to the smart contract and returns the blockchain proof details.</a:t>
            </a:r>
            <a:endParaRPr lang="en-LS" sz="150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86218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75F181-73CC-CDD5-EFBF-D614C9CC74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Presenter 3 Code - CaseAnchor.sol anchor()</a:t>
            </a:r>
            <a:endParaRPr lang="en-L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C04D8B-3840-6655-CC52-59D93EF180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lstStyle/>
          <a:p>
            <a:r>
              <a:rPr lang="en-US" sz="1500">
                <a:latin typeface="Consolas" panose="020B0609020204030204" pitchFamily="49" charset="0"/>
              </a:rPr>
              <a:t>Code:</a:t>
            </a:r>
          </a:p>
          <a:p>
            <a:r>
              <a:rPr lang="en-US" sz="1500">
                <a:latin typeface="Consolas" panose="020B0609020204030204" pitchFamily="49" charset="0"/>
              </a:rPr>
              <a:t>function anchor(
    string calldata recordId,
    bytes32 contentHash,
    string calldata action
) external onlyWriter {
    if (latestHashForId[recordId] == contentHash) revert AlreadyAnchored();
    if (usedHash[contentHash]) revert HashAlreadyUsed();
    latestHashForId[recordId] = contentHash;
    emit Anchored(recordId, contentHash, prev, msg.sender, block.timestamp, action);
}</a:t>
            </a:r>
          </a:p>
          <a:p>
            <a:endParaRPr lang="en-US" sz="1500">
              <a:latin typeface="Consolas" panose="020B0609020204030204" pitchFamily="49" charset="0"/>
            </a:endParaRPr>
          </a:p>
          <a:p>
            <a:r>
              <a:rPr lang="en-US" sz="1500">
                <a:latin typeface="Consolas" panose="020B0609020204030204" pitchFamily="49" charset="0"/>
              </a:rPr>
              <a:t>What to say:</a:t>
            </a:r>
          </a:p>
          <a:p>
            <a:r>
              <a:rPr lang="en-US" sz="1500">
                <a:latin typeface="Consolas" panose="020B0609020204030204" pitchFamily="49" charset="0"/>
              </a:rPr>
              <a:t>This smart contract stores the latest proof for a record and emits a permanent blockchain event.</a:t>
            </a:r>
            <a:endParaRPr lang="en-LS" sz="150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98652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C88986-157D-8E0F-0A48-43A747AB7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Presenter 4 - Workflow, Functions, File Structure, Demo</a:t>
            </a:r>
            <a:endParaRPr lang="en-L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8FDB2B-FFDD-54C6-6506-7AADA63B0C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/>
              <a:t>Focus:</a:t>
            </a:r>
          </a:p>
          <a:p>
            <a:r>
              <a:rPr lang="en-US"/>
              <a:t>- End-to-end case workflow</a:t>
            </a:r>
          </a:p>
          <a:p>
            <a:r>
              <a:rPr lang="en-US"/>
              <a:t>- Main functions in the project</a:t>
            </a:r>
          </a:p>
          <a:p>
            <a:r>
              <a:rPr lang="en-US"/>
              <a:t>- File structure overview</a:t>
            </a:r>
          </a:p>
          <a:p>
            <a:r>
              <a:rPr lang="en-US"/>
              <a:t>- Live demo or code walk-through</a:t>
            </a:r>
          </a:p>
          <a:p>
            <a:endParaRPr lang="en-US"/>
          </a:p>
          <a:p>
            <a:r>
              <a:rPr lang="en-US"/>
              <a:t>Best file order for demo:</a:t>
            </a:r>
          </a:p>
          <a:p>
            <a:r>
              <a:rPr lang="en-US"/>
              <a:t>1. app/api/auth/login/route.ts</a:t>
            </a:r>
          </a:p>
          <a:p>
            <a:r>
              <a:rPr lang="en-US"/>
              <a:t>2. app/police/new-case/page.tsx</a:t>
            </a:r>
          </a:p>
          <a:p>
            <a:r>
              <a:rPr lang="en-US"/>
              <a:t>3. lib/server/cases.ts</a:t>
            </a:r>
          </a:p>
          <a:p>
            <a:r>
              <a:rPr lang="en-US"/>
              <a:t>4. lib/db.ts</a:t>
            </a:r>
          </a:p>
          <a:p>
            <a:r>
              <a:rPr lang="en-US"/>
              <a:t>5. lib/blockchain/case-anchor.ts</a:t>
            </a:r>
            <a:endParaRPr lang="en-LS"/>
          </a:p>
        </p:txBody>
      </p:sp>
    </p:spTree>
    <p:extLst>
      <p:ext uri="{BB962C8B-B14F-4D97-AF65-F5344CB8AC3E}">
        <p14:creationId xmlns:p14="http://schemas.microsoft.com/office/powerpoint/2010/main" val="38544960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A70414-2F50-FB86-F1F5-E36F1503A9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Presenter 4 Code - End-to-End Workflow</a:t>
            </a:r>
            <a:endParaRPr lang="en-L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7EF4AD-5392-C448-EEE2-FA64676D20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500">
                <a:latin typeface="Consolas" panose="020B0609020204030204" pitchFamily="49" charset="0"/>
              </a:rPr>
              <a:t>Code:</a:t>
            </a:r>
          </a:p>
          <a:p>
            <a:r>
              <a:rPr lang="en-US" sz="1500">
                <a:latin typeface="Consolas" panose="020B0609020204030204" pitchFamily="49" charset="0"/>
              </a:rPr>
              <a:t>User fills form
-&gt; buildCasePayload()
-&gt; /api/cases POST()
-&gt; createAndSubmitCase()
-&gt; getDbPool()
-&gt; anchorCaseOnChain()
-&gt; TiDB stores full case
-&gt; Blockchain stores proof</a:t>
            </a:r>
          </a:p>
          <a:p>
            <a:endParaRPr lang="en-US" sz="1500">
              <a:latin typeface="Consolas" panose="020B0609020204030204" pitchFamily="49" charset="0"/>
            </a:endParaRPr>
          </a:p>
          <a:p>
            <a:r>
              <a:rPr lang="en-US" sz="1500">
                <a:latin typeface="Consolas" panose="020B0609020204030204" pitchFamily="49" charset="0"/>
              </a:rPr>
              <a:t>What to say:</a:t>
            </a:r>
          </a:p>
          <a:p>
            <a:r>
              <a:rPr lang="en-US" sz="1500">
                <a:latin typeface="Consolas" panose="020B0609020204030204" pitchFamily="49" charset="0"/>
              </a:rPr>
              <a:t>This is the complete workflow from user input to storage and integrity verification.</a:t>
            </a:r>
            <a:endParaRPr lang="en-LS" sz="150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768605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8F61B7-5C6B-98E8-E259-DAFB554875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Presenter 4 Code - checkpointPoliceCaseStep()</a:t>
            </a:r>
            <a:endParaRPr lang="en-L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B28334-A88B-CEF4-036B-28C098F85B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500">
                <a:latin typeface="Consolas" panose="020B0609020204030204" pitchFamily="49" charset="0"/>
              </a:rPr>
              <a:t>Code:</a:t>
            </a:r>
          </a:p>
          <a:p>
            <a:r>
              <a:rPr lang="en-US" sz="1500">
                <a:latin typeface="Consolas" panose="020B0609020204030204" pitchFamily="49" charset="0"/>
              </a:rPr>
              <a:t>export async function checkpointPoliceCaseStep(input) {
  const merged = { ...(existingPayload), ...(input.caseData), status: "draft_police" }
  const anchor = await anchorCaseOnChain({
    recordId: caseId,
    caseData: merged,
    action: "POLICE_STEP_CHECKPOINT",
  })
  await conn.query(`UPDATE cases SET payload = ? WHERE id = ?`)
}</a:t>
            </a:r>
          </a:p>
          <a:p>
            <a:endParaRPr lang="en-US" sz="1500">
              <a:latin typeface="Consolas" panose="020B0609020204030204" pitchFamily="49" charset="0"/>
            </a:endParaRPr>
          </a:p>
          <a:p>
            <a:r>
              <a:rPr lang="en-US" sz="1500">
                <a:latin typeface="Consolas" panose="020B0609020204030204" pitchFamily="49" charset="0"/>
              </a:rPr>
              <a:t>What to say:</a:t>
            </a:r>
          </a:p>
          <a:p>
            <a:r>
              <a:rPr lang="en-US" sz="1500">
                <a:latin typeface="Consolas" panose="020B0609020204030204" pitchFamily="49" charset="0"/>
              </a:rPr>
              <a:t>This function saves progress step by step and records a blockchain checkpoint for traceability.</a:t>
            </a:r>
            <a:endParaRPr lang="en-LS" sz="150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131493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CDFF67-79D3-4821-47BF-59876CA2C5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Final Team Message</a:t>
            </a:r>
            <a:endParaRPr lang="en-L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BB0BE2-1563-817E-D225-15A05F4FF7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Next.js handles the interface.</a:t>
            </a:r>
          </a:p>
          <a:p>
            <a:r>
              <a:rPr lang="en-US"/>
              <a:t>Node.js handles the logic.</a:t>
            </a:r>
          </a:p>
          <a:p>
            <a:r>
              <a:rPr lang="en-US"/>
              <a:t>TiDB stores the full data.</a:t>
            </a:r>
          </a:p>
          <a:p>
            <a:r>
              <a:rPr lang="en-US"/>
              <a:t>Blockchain provides proof of integrity.</a:t>
            </a:r>
          </a:p>
          <a:p>
            <a:endParaRPr lang="en-US"/>
          </a:p>
          <a:p>
            <a:r>
              <a:rPr lang="en-US"/>
              <a:t>Final important sentence:</a:t>
            </a:r>
          </a:p>
          <a:p>
            <a:r>
              <a:rPr lang="en-US"/>
              <a:t>The database stores the full business record, while blockchain stores proof of integrity and critical action history.</a:t>
            </a:r>
            <a:endParaRPr lang="en-LS"/>
          </a:p>
        </p:txBody>
      </p:sp>
    </p:spTree>
    <p:extLst>
      <p:ext uri="{BB962C8B-B14F-4D97-AF65-F5344CB8AC3E}">
        <p14:creationId xmlns:p14="http://schemas.microsoft.com/office/powerpoint/2010/main" val="36964454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1647</Words>
  <Application>Microsoft Office PowerPoint</Application>
  <PresentationFormat>Widescreen</PresentationFormat>
  <Paragraphs>153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Aptos</vt:lpstr>
      <vt:lpstr>Aptos Display</vt:lpstr>
      <vt:lpstr>Arial</vt:lpstr>
      <vt:lpstr>Consolas</vt:lpstr>
      <vt:lpstr>Office Theme</vt:lpstr>
      <vt:lpstr>Justice Case Management System</vt:lpstr>
      <vt:lpstr>Problem Statement</vt:lpstr>
      <vt:lpstr>System Objectives (SMART)</vt:lpstr>
      <vt:lpstr>Architecture Overview</vt:lpstr>
      <vt:lpstr>Presenter 1 - Next.js</vt:lpstr>
      <vt:lpstr>Presenter 1 Code - buildCasePayload()</vt:lpstr>
      <vt:lpstr>Presenter 1 Code - Login POST()</vt:lpstr>
      <vt:lpstr>Presenter 1 Code - Cases Route POST()</vt:lpstr>
      <vt:lpstr>Presenter 2 - Node.js and TiDB</vt:lpstr>
      <vt:lpstr>Presenter 2 Code - parseSessionValue()</vt:lpstr>
      <vt:lpstr>Presenter 2 Code - createAndSubmitCase()</vt:lpstr>
      <vt:lpstr>Presenter 2 Code - getDbPool()</vt:lpstr>
      <vt:lpstr>Presenter 3 - Blockchain, Hardhat, and Fabric</vt:lpstr>
      <vt:lpstr>Presenter 3 Code - makeCaseHash()</vt:lpstr>
      <vt:lpstr>Presenter 3 Code - anchorCaseOnChain()</vt:lpstr>
      <vt:lpstr>Presenter 3 Code - CaseAnchor.sol anchor()</vt:lpstr>
      <vt:lpstr>Presenter 4 - Workflow, Functions, File Structure, Demo</vt:lpstr>
      <vt:lpstr>Presenter 4 Code - End-to-End Workflow</vt:lpstr>
      <vt:lpstr>Presenter 4 Code - checkpointPoliceCaseStep()</vt:lpstr>
      <vt:lpstr>Final Team Message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Bokang Kobo</dc:creator>
  <cp:lastModifiedBy>Bokang Kobo</cp:lastModifiedBy>
  <cp:revision>1</cp:revision>
  <dcterms:created xsi:type="dcterms:W3CDTF">2026-03-23T15:08:43Z</dcterms:created>
  <dcterms:modified xsi:type="dcterms:W3CDTF">2026-03-23T15:08:43Z</dcterms:modified>
</cp:coreProperties>
</file>